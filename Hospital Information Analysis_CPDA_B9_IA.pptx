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4293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This is our capstone project for the HeroVired Data Analytics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 agenda overview.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 serves healthcare administrators, policymakers and analysts who need to make data-driven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Akash spent significant effort on data quality — his null handling prevented record loss which was critical.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Arunima built the star schema and all domain DAX measures that power the entire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1 gives an executive overview. The AR state filter is active in this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Geographic page shows state-wise distribution. Team noted Filled Map wasn't available so used Bing maps.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Manisha built both the Performance Details and Data Validation pages — critical for trust in the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Anuj's What-If module is the most interactive part — the slider lets users simulate improvement scenarios in real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Abhishek built and styled all 6 dashboard pages including UX layout, card formatting, and chart selections.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findings come directly from exploring the dashboard. Highlight RI and VA ownership as the most interesting data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team member contributed equally — 30 hours each. Each person owned a distinct phase.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challenges from the work notes — shows faculty we thought critically about the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of presentation. Open for questions from faculty.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389120" cy="6858000"/>
          </a:xfrm>
          <a:prstGeom prst="rect">
            <a:avLst/>
          </a:prstGeom>
          <a:solidFill>
            <a:srgbClr val="0D7680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0"/>
            <a:ext cx="3749040" cy="6858000"/>
          </a:xfrm>
          <a:prstGeom prst="rect">
            <a:avLst/>
          </a:prstGeom>
          <a:solidFill>
            <a:srgbClr val="1A9BA6">
              <a:alpha val="75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1463040"/>
            <a:ext cx="2560320" cy="2560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00584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General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548640" y="187452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1A9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 Dashboard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548640" y="292608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Capstone Project  |  HeroVired Data Analytics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474720"/>
            <a:ext cx="5029200" cy="36576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3703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4178808"/>
            <a:ext cx="201168" cy="201168"/>
          </a:xfrm>
          <a:prstGeom prst="ellipse">
            <a:avLst/>
          </a:prstGeom>
          <a:solidFill>
            <a:srgbClr val="0D7680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41148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Akash  ·  Data Engineering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023360" y="4178808"/>
            <a:ext cx="201168" cy="201168"/>
          </a:xfrm>
          <a:prstGeom prst="ellipse">
            <a:avLst/>
          </a:prstGeom>
          <a:solidFill>
            <a:srgbClr val="0D7680"/>
          </a:solidFill>
          <a:ln/>
        </p:spPr>
      </p:sp>
      <p:sp>
        <p:nvSpPr>
          <p:cNvPr id="13" name="Text 10"/>
          <p:cNvSpPr/>
          <p:nvPr/>
        </p:nvSpPr>
        <p:spPr>
          <a:xfrm>
            <a:off x="4315968" y="41148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Arunima  ·  Data Modeling &amp; Visuals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4727448"/>
            <a:ext cx="201168" cy="201168"/>
          </a:xfrm>
          <a:prstGeom prst="ellipse">
            <a:avLst/>
          </a:prstGeom>
          <a:solidFill>
            <a:srgbClr val="0D7680"/>
          </a:solidFill>
          <a:ln/>
        </p:spPr>
      </p:sp>
      <p:sp>
        <p:nvSpPr>
          <p:cNvPr id="15" name="Text 12"/>
          <p:cNvSpPr/>
          <p:nvPr/>
        </p:nvSpPr>
        <p:spPr>
          <a:xfrm>
            <a:off x="841248" y="46634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Manisha  ·  Performance &amp; Validation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023360" y="4727448"/>
            <a:ext cx="201168" cy="201168"/>
          </a:xfrm>
          <a:prstGeom prst="ellipse">
            <a:avLst/>
          </a:prstGeom>
          <a:solidFill>
            <a:srgbClr val="0D7680"/>
          </a:solidFill>
          <a:ln/>
        </p:spPr>
      </p:sp>
      <p:sp>
        <p:nvSpPr>
          <p:cNvPr id="17" name="Text 14"/>
          <p:cNvSpPr/>
          <p:nvPr/>
        </p:nvSpPr>
        <p:spPr>
          <a:xfrm>
            <a:off x="4315968" y="46634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Anuj  ·  What-If &amp; Scenarios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5276088"/>
            <a:ext cx="201168" cy="201168"/>
          </a:xfrm>
          <a:prstGeom prst="ellipse">
            <a:avLst/>
          </a:prstGeom>
          <a:solidFill>
            <a:srgbClr val="0D7680"/>
          </a:solidFill>
          <a:ln/>
        </p:spPr>
      </p:sp>
      <p:sp>
        <p:nvSpPr>
          <p:cNvPr id="19" name="Text 16"/>
          <p:cNvSpPr/>
          <p:nvPr/>
        </p:nvSpPr>
        <p:spPr>
          <a:xfrm>
            <a:off x="841248" y="52120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 ·  Power BI Dashboard Development, Testing &amp; Optimization, PPT Creation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48640" y="630936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|  Group Project Submission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55778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481328"/>
            <a:ext cx="512064" cy="512064"/>
          </a:xfrm>
          <a:prstGeom prst="ellipse">
            <a:avLst/>
          </a:prstGeom>
          <a:solidFill>
            <a:srgbClr val="0D7680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481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70432" y="12984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70432" y="170078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business goals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170432"/>
            <a:ext cx="55778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82512" y="1481328"/>
            <a:ext cx="512064" cy="512064"/>
          </a:xfrm>
          <a:prstGeom prst="ellipse">
            <a:avLst/>
          </a:prstGeom>
          <a:solidFill>
            <a:srgbClr val="0D7680"/>
          </a:solidFill>
          <a:ln/>
        </p:spPr>
      </p:sp>
      <p:sp>
        <p:nvSpPr>
          <p:cNvPr id="11" name="Text 9"/>
          <p:cNvSpPr/>
          <p:nvPr/>
        </p:nvSpPr>
        <p:spPr>
          <a:xfrm>
            <a:off x="6382512" y="1481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22592" y="12984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22592" y="170078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5,384 hospitals · 38 columns · 5 domains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514600"/>
            <a:ext cx="55778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2825496"/>
            <a:ext cx="512064" cy="512064"/>
          </a:xfrm>
          <a:prstGeom prst="ellipse">
            <a:avLst/>
          </a:prstGeom>
          <a:solidFill>
            <a:srgbClr val="0D7680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28254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70432" y="264261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Engineering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70432" y="304495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Akash — Power Query cleaning steps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2514600"/>
            <a:ext cx="55778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82512" y="2825496"/>
            <a:ext cx="512064" cy="512064"/>
          </a:xfrm>
          <a:prstGeom prst="ellipse">
            <a:avLst/>
          </a:prstGeom>
          <a:solidFill>
            <a:srgbClr val="0D7680"/>
          </a:solidFill>
          <a:ln/>
        </p:spPr>
      </p:sp>
      <p:sp>
        <p:nvSpPr>
          <p:cNvPr id="21" name="Text 19"/>
          <p:cNvSpPr/>
          <p:nvPr/>
        </p:nvSpPr>
        <p:spPr>
          <a:xfrm>
            <a:off x="6382512" y="28254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22592" y="264261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22592" y="304495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Arunima — Star schema &amp; DAX measures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858768"/>
            <a:ext cx="55778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30352" y="4169664"/>
            <a:ext cx="512064" cy="512064"/>
          </a:xfrm>
          <a:prstGeom prst="ellipse">
            <a:avLst/>
          </a:prstGeom>
          <a:solidFill>
            <a:srgbClr val="0D7680"/>
          </a:solidFill>
          <a:ln/>
        </p:spPr>
      </p:sp>
      <p:sp>
        <p:nvSpPr>
          <p:cNvPr id="26" name="Text 24"/>
          <p:cNvSpPr/>
          <p:nvPr/>
        </p:nvSpPr>
        <p:spPr>
          <a:xfrm>
            <a:off x="530352" y="41696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70432" y="398678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Walkthrough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70432" y="43891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Power BI report pages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17920" y="3858768"/>
            <a:ext cx="55778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82512" y="4169664"/>
            <a:ext cx="512064" cy="512064"/>
          </a:xfrm>
          <a:prstGeom prst="ellipse">
            <a:avLst/>
          </a:prstGeom>
          <a:solidFill>
            <a:srgbClr val="0D7680"/>
          </a:solidFill>
          <a:ln/>
        </p:spPr>
      </p:sp>
      <p:sp>
        <p:nvSpPr>
          <p:cNvPr id="31" name="Text 29"/>
          <p:cNvSpPr/>
          <p:nvPr/>
        </p:nvSpPr>
        <p:spPr>
          <a:xfrm>
            <a:off x="6382512" y="41696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22592" y="398678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&amp; Validation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022592" y="43891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Manisha — Details &amp; QA pages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5202936"/>
            <a:ext cx="55778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30352" y="5513832"/>
            <a:ext cx="512064" cy="512064"/>
          </a:xfrm>
          <a:prstGeom prst="ellipse">
            <a:avLst/>
          </a:prstGeom>
          <a:solidFill>
            <a:srgbClr val="0D7680"/>
          </a:solidFill>
          <a:ln/>
        </p:spPr>
      </p:sp>
      <p:sp>
        <p:nvSpPr>
          <p:cNvPr id="36" name="Text 34"/>
          <p:cNvSpPr/>
          <p:nvPr/>
        </p:nvSpPr>
        <p:spPr>
          <a:xfrm>
            <a:off x="530352" y="55138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70432" y="533095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What-If &amp; Scenarios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170432" y="573328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Anuj — Simulation &amp; insights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17920" y="5202936"/>
            <a:ext cx="55778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382512" y="5513832"/>
            <a:ext cx="512064" cy="512064"/>
          </a:xfrm>
          <a:prstGeom prst="ellipse">
            <a:avLst/>
          </a:prstGeom>
          <a:solidFill>
            <a:srgbClr val="0D7680"/>
          </a:solidFill>
          <a:ln/>
        </p:spPr>
      </p:sp>
      <p:sp>
        <p:nvSpPr>
          <p:cNvPr id="41" name="Text 39"/>
          <p:cNvSpPr/>
          <p:nvPr/>
        </p:nvSpPr>
        <p:spPr>
          <a:xfrm>
            <a:off x="6382512" y="55138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022592" y="533095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&amp; Team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7022592" y="573328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Abhishek's design + team contributions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6858000" cy="5394960"/>
          </a:xfrm>
          <a:prstGeom prst="roundRect">
            <a:avLst>
              <a:gd name="adj" fmla="val 2034"/>
            </a:avLst>
          </a:prstGeom>
          <a:solidFill>
            <a:srgbClr val="0D2B45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32588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9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an interactive Power BI dashboard using the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A9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General Information dataset to enable: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6492240" cy="841248"/>
          </a:xfrm>
          <a:prstGeom prst="roundRect">
            <a:avLst>
              <a:gd name="adj" fmla="val 8696"/>
            </a:avLst>
          </a:prstGeom>
          <a:solidFill>
            <a:srgbClr val="112840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2487168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2350008"/>
            <a:ext cx="5852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hospital performance across 5 quality dimensions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(Mortality, Safety, Readmissions, Patient Exp, Timeliness)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6492240" cy="841248"/>
          </a:xfrm>
          <a:prstGeom prst="roundRect">
            <a:avLst>
              <a:gd name="adj" fmla="val 8696"/>
            </a:avLst>
          </a:prstGeom>
          <a:solidFill>
            <a:srgbClr val="112840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" y="3493008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1024128" y="3355848"/>
            <a:ext cx="5852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hospitals by geography, type &amp; ownership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6492240" cy="841248"/>
          </a:xfrm>
          <a:prstGeom prst="roundRect">
            <a:avLst>
              <a:gd name="adj" fmla="val 8696"/>
            </a:avLst>
          </a:prstGeom>
          <a:solidFill>
            <a:srgbClr val="112840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4498848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1024128" y="4361688"/>
            <a:ext cx="5852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strengths and gaps in quality metrics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349240"/>
            <a:ext cx="6492240" cy="841248"/>
          </a:xfrm>
          <a:prstGeom prst="roundRect">
            <a:avLst>
              <a:gd name="adj" fmla="val 8696"/>
            </a:avLst>
          </a:prstGeom>
          <a:solidFill>
            <a:srgbClr val="112840"/>
          </a:solidFill>
          <a:ln/>
        </p:spPr>
      </p:sp>
      <p:sp>
        <p:nvSpPr>
          <p:cNvPr id="16" name="Shape 14"/>
          <p:cNvSpPr/>
          <p:nvPr/>
        </p:nvSpPr>
        <p:spPr>
          <a:xfrm>
            <a:off x="658368" y="5504688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1024128" y="5367528"/>
            <a:ext cx="5852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dynamic "What-If" scenario simulation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evidence-based decision making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498080" y="1188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Audience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498080" y="1691640"/>
            <a:ext cx="2011680" cy="1828800"/>
          </a:xfrm>
          <a:prstGeom prst="roundRect">
            <a:avLst>
              <a:gd name="adj" fmla="val 7000"/>
            </a:avLst>
          </a:prstGeom>
          <a:solidFill>
            <a:srgbClr val="0D7680">
              <a:alpha val="80000"/>
            </a:srgb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98080" y="1874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🏥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498080" y="256032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738360" y="1691640"/>
            <a:ext cx="2011680" cy="1828800"/>
          </a:xfrm>
          <a:prstGeom prst="roundRect">
            <a:avLst>
              <a:gd name="adj" fmla="val 7000"/>
            </a:avLst>
          </a:prstGeom>
          <a:solidFill>
            <a:srgbClr val="0D7680">
              <a:alpha val="80000"/>
            </a:srgb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738360" y="1874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738360" y="256032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498080" y="3794760"/>
            <a:ext cx="2011680" cy="1828800"/>
          </a:xfrm>
          <a:prstGeom prst="roundRect">
            <a:avLst>
              <a:gd name="adj" fmla="val 7000"/>
            </a:avLst>
          </a:prstGeom>
          <a:solidFill>
            <a:srgbClr val="0D7680">
              <a:alpha val="80000"/>
            </a:srgb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498080" y="3977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498080" y="466344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738360" y="3794760"/>
            <a:ext cx="2011680" cy="1828800"/>
          </a:xfrm>
          <a:prstGeom prst="roundRect">
            <a:avLst>
              <a:gd name="adj" fmla="val 7000"/>
            </a:avLst>
          </a:prstGeom>
          <a:solidFill>
            <a:srgbClr val="0D7680">
              <a:alpha val="80000"/>
            </a:srgb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738360" y="3977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💡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9738360" y="466344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Teams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498080" y="58978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Hospital General Information (CMS)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Data Engineering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778240" y="914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A9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Akash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503920" y="621792"/>
            <a:ext cx="3291840" cy="27432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217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Cleaning — 4 Steps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5623560" cy="2487168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" y="1261872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0D7680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" y="12618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9304" y="1298448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Keys &amp; Geography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21208" y="2057400"/>
            <a:ext cx="523036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Facility ID &amp; ZIP Code to Text. Applied Trim &amp; Clean.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leading-zero loss (e.g. '01052') and broken table joins.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5623560" cy="2487168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82512" y="1261872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1E6B8A"/>
          </a:solidFill>
          <a:ln/>
        </p:spPr>
      </p:sp>
      <p:sp>
        <p:nvSpPr>
          <p:cNvPr id="14" name="Text 12"/>
          <p:cNvSpPr/>
          <p:nvPr/>
        </p:nvSpPr>
        <p:spPr>
          <a:xfrm>
            <a:off x="6382512" y="12618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87184" y="1298448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Numerical Metrics Standardisation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19088" y="2057400"/>
            <a:ext cx="523036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'Not Available' → null in ratings. Converted 19 measure columns to Whole Number. Used Replace Errors → blank nulls to avoid losing hospital records.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794760"/>
            <a:ext cx="5623560" cy="2487168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" y="3959352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" y="39593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89304" y="3995928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 Data &amp; Boolean Flags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21208" y="4754880"/>
            <a:ext cx="523036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Emergency Services → True/False Boolean for slicer use. Kept all Footnote columns as Text to prevent accidental aggregation.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3794760"/>
            <a:ext cx="5623560" cy="2487168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82512" y="3959352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6382512" y="39593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187184" y="3995928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UI/UX Model Optimisation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19088" y="4754880"/>
            <a:ext cx="523036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Address, Telephone &amp; Footnote columns in Model View. Keeps field list clean for the viz team. Data remains available for DAX if needed.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0040" y="6473952"/>
            <a:ext cx="11521440" cy="256032"/>
          </a:xfrm>
          <a:prstGeom prst="roundRect">
            <a:avLst>
              <a:gd name="adj" fmla="val 21429"/>
            </a:avLst>
          </a:prstGeom>
          <a:solidFill>
            <a:srgbClr val="E8F7F8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6492240"/>
            <a:ext cx="11338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Dataset loaded with ZERO errors · All 20 numerical columns strictly typed · Facility ID clean and ready for Star Schema joins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Data Modeling &amp; DAX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A9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Arunima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5577840" cy="5486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3444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6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 Schema Data Model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011680" y="3264408"/>
            <a:ext cx="2103120" cy="1234440"/>
          </a:xfrm>
          <a:prstGeom prst="roundRect">
            <a:avLst>
              <a:gd name="adj" fmla="val 7407"/>
            </a:avLst>
          </a:prstGeom>
          <a:solidFill>
            <a:srgbClr val="0A2342"/>
          </a:solidFill>
          <a:ln/>
        </p:spPr>
      </p:sp>
      <p:sp>
        <p:nvSpPr>
          <p:cNvPr id="8" name="Text 6"/>
          <p:cNvSpPr/>
          <p:nvPr/>
        </p:nvSpPr>
        <p:spPr>
          <a:xfrm>
            <a:off x="2309327" y="368503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Hospital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(Fact Table)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Facility ID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E8F7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78308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Dim_State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StateID (PK)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94760" y="178308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E8F7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94760" y="178308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Dim_County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CountyID (PK)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4928" y="537210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E8F7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5354279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Dim_HospitalType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TypeID (PK)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777032" y="5411289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E8F7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72367" y="5454909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Dim_Ownership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OwnershipID (PK)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53772" y="2885492"/>
            <a:ext cx="164592" cy="164592"/>
          </a:xfrm>
          <a:prstGeom prst="ellipse">
            <a:avLst/>
          </a:prstGeom>
          <a:solidFill>
            <a:srgbClr val="0D7680"/>
          </a:solidFill>
          <a:ln/>
        </p:spPr>
      </p:sp>
      <p:sp>
        <p:nvSpPr>
          <p:cNvPr id="18" name="Text 16"/>
          <p:cNvSpPr/>
          <p:nvPr/>
        </p:nvSpPr>
        <p:spPr>
          <a:xfrm>
            <a:off x="759512" y="281234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Many-to-One (*:1)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0" y="2907232"/>
            <a:ext cx="164592" cy="164592"/>
          </a:xfrm>
          <a:prstGeom prst="ellipse">
            <a:avLst/>
          </a:prstGeom>
          <a:solidFill>
            <a:srgbClr val="0D7680"/>
          </a:solidFill>
          <a:ln/>
        </p:spPr>
      </p:sp>
      <p:sp>
        <p:nvSpPr>
          <p:cNvPr id="20" name="Text 18"/>
          <p:cNvSpPr/>
          <p:nvPr/>
        </p:nvSpPr>
        <p:spPr>
          <a:xfrm>
            <a:off x="4366260" y="2821577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direction filter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4718304"/>
            <a:ext cx="164592" cy="164592"/>
          </a:xfrm>
          <a:prstGeom prst="ellipse">
            <a:avLst/>
          </a:prstGeom>
          <a:solidFill>
            <a:srgbClr val="0D7680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66344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dimension tables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21145" y="4736592"/>
            <a:ext cx="164592" cy="164592"/>
          </a:xfrm>
          <a:prstGeom prst="ellipse">
            <a:avLst/>
          </a:prstGeom>
          <a:solidFill>
            <a:srgbClr val="0D7680"/>
          </a:solidFill>
          <a:ln/>
        </p:spPr>
      </p:sp>
      <p:sp>
        <p:nvSpPr>
          <p:cNvPr id="24" name="Text 22"/>
          <p:cNvSpPr/>
          <p:nvPr/>
        </p:nvSpPr>
        <p:spPr>
          <a:xfrm>
            <a:off x="4366260" y="4654203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= central fact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1097280"/>
            <a:ext cx="5669280" cy="5486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55080" y="123444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6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 Measures Created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309360" y="173736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E8F7F8"/>
          </a:solidFill>
          <a:ln/>
        </p:spPr>
      </p:sp>
      <p:sp>
        <p:nvSpPr>
          <p:cNvPr id="28" name="Shape 26"/>
          <p:cNvSpPr/>
          <p:nvPr/>
        </p:nvSpPr>
        <p:spPr>
          <a:xfrm>
            <a:off x="6446520" y="1865376"/>
            <a:ext cx="256032" cy="25603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9" name="Text 27"/>
          <p:cNvSpPr/>
          <p:nvPr/>
        </p:nvSpPr>
        <p:spPr>
          <a:xfrm>
            <a:off x="6784848" y="18288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Mortality (MORT)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46520" y="2231136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 Better  ·  Mort No Different  ·  Mort Worse  ·  Mort Better 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09360" y="292608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E8F7F8"/>
          </a:solidFill>
          <a:ln/>
        </p:spPr>
      </p:sp>
      <p:sp>
        <p:nvSpPr>
          <p:cNvPr id="32" name="Shape 30"/>
          <p:cNvSpPr/>
          <p:nvPr/>
        </p:nvSpPr>
        <p:spPr>
          <a:xfrm>
            <a:off x="6446520" y="3054096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6784848" y="30175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46520" y="3419856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Better  ·  Safety No Different  ·  Safety Worse  ·  Safety Better 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09360" y="411480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E8F7F8"/>
          </a:solidFill>
          <a:ln/>
        </p:spPr>
      </p:sp>
      <p:sp>
        <p:nvSpPr>
          <p:cNvPr id="36" name="Shape 34"/>
          <p:cNvSpPr/>
          <p:nvPr/>
        </p:nvSpPr>
        <p:spPr>
          <a:xfrm>
            <a:off x="6446520" y="4242816"/>
            <a:ext cx="256032" cy="25603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7" name="Text 35"/>
          <p:cNvSpPr/>
          <p:nvPr/>
        </p:nvSpPr>
        <p:spPr>
          <a:xfrm>
            <a:off x="6784848" y="42062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Readmissions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446520" y="4608576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 Better  ·  READM No Different  ·  READM Worse  ·  READM Better %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09360" y="530352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E8F7F8"/>
          </a:solidFill>
          <a:ln/>
        </p:spPr>
      </p:sp>
      <p:sp>
        <p:nvSpPr>
          <p:cNvPr id="40" name="Shape 38"/>
          <p:cNvSpPr/>
          <p:nvPr/>
        </p:nvSpPr>
        <p:spPr>
          <a:xfrm>
            <a:off x="6446520" y="5431536"/>
            <a:ext cx="256032" cy="256032"/>
          </a:xfrm>
          <a:prstGeom prst="ellipse">
            <a:avLst/>
          </a:prstGeom>
          <a:solidFill>
            <a:srgbClr val="0D7680"/>
          </a:solidFill>
          <a:ln/>
        </p:spPr>
      </p:sp>
      <p:sp>
        <p:nvSpPr>
          <p:cNvPr id="41" name="Text 39"/>
          <p:cNvSpPr/>
          <p:nvPr/>
        </p:nvSpPr>
        <p:spPr>
          <a:xfrm>
            <a:off x="6784848" y="539496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Measures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446520" y="5797296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Hospitals  ·  High Performing Hospitals  ·  % High Performing  ·  Average Better %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060441" y="6400800"/>
            <a:ext cx="86438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Filled Map visual unavailable — used standard map. Rating required text→numeric conversion.</a:t>
            </a:r>
            <a:endParaRPr lang="en-US" sz="10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1  —  Hospital Quality Performance Dashboard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875520" y="914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909560" y="960120"/>
            <a:ext cx="3931920" cy="960120"/>
          </a:xfrm>
          <a:prstGeom prst="roundRect">
            <a:avLst>
              <a:gd name="adj" fmla="val 9524"/>
            </a:avLst>
          </a:prstGeom>
          <a:solidFill>
            <a:srgbClr val="0D2B4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0" y="1069848"/>
            <a:ext cx="566928" cy="566928"/>
          </a:xfrm>
          <a:prstGeom prst="ellipse">
            <a:avLst/>
          </a:prstGeom>
          <a:solidFill>
            <a:srgbClr val="0D7680">
              <a:alpha val="8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8046720" y="10698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5K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732520" y="111556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(AR filter)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909560" y="2075688"/>
            <a:ext cx="3931920" cy="960120"/>
          </a:xfrm>
          <a:prstGeom prst="roundRect">
            <a:avLst>
              <a:gd name="adj" fmla="val 9524"/>
            </a:avLst>
          </a:prstGeom>
          <a:solidFill>
            <a:srgbClr val="0D2B4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0" y="2185416"/>
            <a:ext cx="566928" cy="566928"/>
          </a:xfrm>
          <a:prstGeom prst="ellipse">
            <a:avLst/>
          </a:prstGeom>
          <a:solidFill>
            <a:srgbClr val="1E6B8A">
              <a:alpha val="8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8046720" y="21854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3.14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732520" y="223113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909560" y="3191256"/>
            <a:ext cx="3931920" cy="960120"/>
          </a:xfrm>
          <a:prstGeom prst="roundRect">
            <a:avLst>
              <a:gd name="adj" fmla="val 9524"/>
            </a:avLst>
          </a:prstGeom>
          <a:solidFill>
            <a:srgbClr val="0D2B4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0" y="3300984"/>
            <a:ext cx="566928" cy="566928"/>
          </a:xfrm>
          <a:prstGeom prst="ellipse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0" y="33009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21.14%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732520" y="334670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Performing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909560" y="4306824"/>
            <a:ext cx="3931920" cy="960120"/>
          </a:xfrm>
          <a:prstGeom prst="roundRect">
            <a:avLst>
              <a:gd name="adj" fmla="val 9524"/>
            </a:avLst>
          </a:prstGeom>
          <a:solidFill>
            <a:srgbClr val="0D2B4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0" y="4416552"/>
            <a:ext cx="566928" cy="566928"/>
          </a:xfrm>
          <a:prstGeom prst="ellipse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0" y="44165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41042%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732520" y="44622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Birthing Friendly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909560" y="5422392"/>
            <a:ext cx="3931920" cy="960120"/>
          </a:xfrm>
          <a:prstGeom prst="roundRect">
            <a:avLst>
              <a:gd name="adj" fmla="val 9524"/>
            </a:avLst>
          </a:prstGeom>
          <a:solidFill>
            <a:srgbClr val="0D2B4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046720" y="5532120"/>
            <a:ext cx="566928" cy="566928"/>
          </a:xfrm>
          <a:prstGeom prst="ellipse">
            <a:avLst/>
          </a:prstGeom>
          <a:solidFill>
            <a:srgbClr val="7C3AED">
              <a:alpha val="80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8046720" y="5532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11.05%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732520" y="55778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Better %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7909560" y="6492240"/>
            <a:ext cx="3931920" cy="256032"/>
          </a:xfrm>
          <a:prstGeom prst="roundRect">
            <a:avLst>
              <a:gd name="adj" fmla="val 17857"/>
            </a:avLst>
          </a:prstGeom>
          <a:solidFill>
            <a:srgbClr val="E8F7F8"/>
          </a:solidFill>
          <a:ln/>
        </p:spPr>
      </p:sp>
      <p:sp>
        <p:nvSpPr>
          <p:cNvPr id="27" name="Text 24"/>
          <p:cNvSpPr/>
          <p:nvPr/>
        </p:nvSpPr>
        <p:spPr>
          <a:xfrm>
            <a:off x="7955280" y="65105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Slicers: State · Hospital Type · Ownership</a:t>
            </a:r>
            <a:endParaRPr lang="en-US" sz="10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B16AE9A-E4E6-E975-B45A-8A8E93662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45" y="902750"/>
            <a:ext cx="7597835" cy="58272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2  —  State-Wise Hospital Quality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Analysis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96112"/>
            <a:ext cx="7498080" cy="5138928"/>
          </a:xfrm>
          <a:prstGeom prst="rect">
            <a:avLst/>
          </a:prstGeom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8092440" y="960120"/>
            <a:ext cx="3749040" cy="1234440"/>
          </a:xfrm>
          <a:prstGeom prst="roundRect">
            <a:avLst>
              <a:gd name="adj" fmla="val 7407"/>
            </a:avLst>
          </a:prstGeom>
          <a:solidFill>
            <a:srgbClr val="0D2B4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156448" y="1033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🥇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887968" y="10515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9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State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887968" y="143560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Utah leads with avg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of 4.3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092440" y="2377440"/>
            <a:ext cx="3749040" cy="1234440"/>
          </a:xfrm>
          <a:prstGeom prst="roundRect">
            <a:avLst>
              <a:gd name="adj" fmla="val 7407"/>
            </a:avLst>
          </a:prstGeom>
          <a:solidFill>
            <a:srgbClr val="0D2B4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156448" y="2450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887968" y="24688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9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Hospitals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887968" y="285292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dominates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count (459+)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092440" y="3794760"/>
            <a:ext cx="3749040" cy="1234440"/>
          </a:xfrm>
          <a:prstGeom prst="roundRect">
            <a:avLst>
              <a:gd name="adj" fmla="val 7407"/>
            </a:avLst>
          </a:prstGeom>
          <a:solidFill>
            <a:srgbClr val="0D2B4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156448" y="38679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8887968" y="38862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9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Visual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887968" y="427024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State-wise hospital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overview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092440" y="5212080"/>
            <a:ext cx="3749040" cy="1234440"/>
          </a:xfrm>
          <a:prstGeom prst="roundRect">
            <a:avLst>
              <a:gd name="adj" fmla="val 7407"/>
            </a:avLst>
          </a:prstGeom>
          <a:solidFill>
            <a:srgbClr val="0D2B4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156448" y="52852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8887968" y="53035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9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887968" y="568756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Map unavailable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Bing map instead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— Performance Details &amp; Data Validation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875520" y="91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A9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Manisha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Details Dashboard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481328"/>
            <a:ext cx="5577840" cy="3108960"/>
          </a:xfrm>
          <a:prstGeom prst="rect">
            <a:avLst/>
          </a:prstGeom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6263640" y="109728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Validation Dashboard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481328"/>
            <a:ext cx="5577840" cy="3108960"/>
          </a:xfrm>
          <a:prstGeom prst="rect">
            <a:avLst/>
          </a:prstGeom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9" name="Shape 5"/>
          <p:cNvSpPr/>
          <p:nvPr/>
        </p:nvSpPr>
        <p:spPr>
          <a:xfrm>
            <a:off x="320040" y="4754880"/>
            <a:ext cx="56692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29768" y="4956048"/>
            <a:ext cx="347472" cy="347472"/>
          </a:xfrm>
          <a:prstGeom prst="ellipse">
            <a:avLst/>
          </a:prstGeom>
          <a:solidFill>
            <a:srgbClr val="0D7680">
              <a:alpha val="80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429768" y="4956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886968" y="4846320"/>
            <a:ext cx="4956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Rated Facilities · Avg Rating by Ownership · Avg Rating by Hospital Type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63640" y="4754880"/>
            <a:ext cx="56692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373368" y="4956048"/>
            <a:ext cx="347472" cy="347472"/>
          </a:xfrm>
          <a:prstGeom prst="ellipse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6373368" y="4956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830568" y="4846320"/>
            <a:ext cx="4956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Validation: 5K records · 5K unique hospitals · 3K missing ratings · 127 duplicates found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20040" y="5650992"/>
            <a:ext cx="56692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29768" y="5852160"/>
            <a:ext cx="347472" cy="347472"/>
          </a:xfrm>
          <a:prstGeom prst="ellipse">
            <a:avLst/>
          </a:prstGeom>
          <a:solidFill>
            <a:srgbClr val="1E6B8A">
              <a:alpha val="8000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429768" y="5852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🔍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886968" y="5742432"/>
            <a:ext cx="4956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Rating What-If: dynamically shows hospitals above/below benchmark threshold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263640" y="5650992"/>
            <a:ext cx="56692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373368" y="5852160"/>
            <a:ext cx="347472" cy="347472"/>
          </a:xfrm>
          <a:prstGeom prst="ellipse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23" name="Text 19"/>
          <p:cNvSpPr/>
          <p:nvPr/>
        </p:nvSpPr>
        <p:spPr>
          <a:xfrm>
            <a:off x="6373368" y="5852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🛡️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6830568" y="5742432"/>
            <a:ext cx="4956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page ensures data quality before business decisions are made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 — What-If Analysis &amp; Scenario Insights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515600" y="914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Anuj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9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What-If Analysis Dashboard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444752"/>
            <a:ext cx="5577840" cy="3246120"/>
          </a:xfrm>
          <a:prstGeom prst="rect">
            <a:avLst/>
          </a:prstGeom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6263640" y="105156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9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Insights Dashboard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444752"/>
            <a:ext cx="5577840" cy="3246120"/>
          </a:xfrm>
          <a:prstGeom prst="rect">
            <a:avLst/>
          </a:prstGeom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9" name="Shape 5"/>
          <p:cNvSpPr/>
          <p:nvPr/>
        </p:nvSpPr>
        <p:spPr>
          <a:xfrm>
            <a:off x="320040" y="4846320"/>
            <a:ext cx="5669280" cy="749808"/>
          </a:xfrm>
          <a:prstGeom prst="roundRect">
            <a:avLst>
              <a:gd name="adj" fmla="val 9756"/>
            </a:avLst>
          </a:prstGeom>
          <a:solidFill>
            <a:srgbClr val="0D2B45"/>
          </a:solidFill>
          <a:ln/>
        </p:spPr>
      </p:sp>
      <p:sp>
        <p:nvSpPr>
          <p:cNvPr id="10" name="Shape 6"/>
          <p:cNvSpPr/>
          <p:nvPr/>
        </p:nvSpPr>
        <p:spPr>
          <a:xfrm>
            <a:off x="429768" y="5065776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7"/>
          <p:cNvSpPr/>
          <p:nvPr/>
        </p:nvSpPr>
        <p:spPr>
          <a:xfrm>
            <a:off x="822960" y="491947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E.1 — What-If Parameter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22960" y="5266944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Target Rating slider (1–5). Measures: Hospitals Above Target, % Hospitals Above Target, Hospitals Below Target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263640" y="4846320"/>
            <a:ext cx="5669280" cy="749808"/>
          </a:xfrm>
          <a:prstGeom prst="roundRect">
            <a:avLst>
              <a:gd name="adj" fmla="val 9756"/>
            </a:avLst>
          </a:prstGeom>
          <a:solidFill>
            <a:srgbClr val="0D2B45"/>
          </a:solidFill>
          <a:ln/>
        </p:spPr>
      </p:sp>
      <p:sp>
        <p:nvSpPr>
          <p:cNvPr id="14" name="Shape 10"/>
          <p:cNvSpPr/>
          <p:nvPr/>
        </p:nvSpPr>
        <p:spPr>
          <a:xfrm>
            <a:off x="6373368" y="5065776"/>
            <a:ext cx="274320" cy="274320"/>
          </a:xfrm>
          <a:prstGeom prst="ellipse">
            <a:avLst/>
          </a:prstGeom>
          <a:solidFill>
            <a:srgbClr val="1A9BA6"/>
          </a:solidFill>
          <a:ln/>
        </p:spPr>
      </p:sp>
      <p:sp>
        <p:nvSpPr>
          <p:cNvPr id="15" name="Text 11"/>
          <p:cNvSpPr/>
          <p:nvPr/>
        </p:nvSpPr>
        <p:spPr>
          <a:xfrm>
            <a:off x="6766560" y="491947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9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F.1 — Scenario Insights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766560" y="5266944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Better/Worse Measures KPIs. Measure Improvement slider. Current vs projected comparison view.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20040" y="5742432"/>
            <a:ext cx="5669280" cy="749808"/>
          </a:xfrm>
          <a:prstGeom prst="roundRect">
            <a:avLst>
              <a:gd name="adj" fmla="val 9756"/>
            </a:avLst>
          </a:prstGeom>
          <a:solidFill>
            <a:srgbClr val="0D2B45"/>
          </a:solidFill>
          <a:ln/>
        </p:spPr>
      </p:sp>
      <p:sp>
        <p:nvSpPr>
          <p:cNvPr id="18" name="Shape 14"/>
          <p:cNvSpPr/>
          <p:nvPr/>
        </p:nvSpPr>
        <p:spPr>
          <a:xfrm>
            <a:off x="429768" y="5961888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5"/>
          <p:cNvSpPr/>
          <p:nvPr/>
        </p:nvSpPr>
        <p:spPr>
          <a:xfrm>
            <a:off x="822960" y="581558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F.2 — Interactivity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822960" y="6163056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Cross-filtering, dynamic KPI cards responding to selections. Decision-support view for quality improvement.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263640" y="5742432"/>
            <a:ext cx="5669280" cy="749808"/>
          </a:xfrm>
          <a:prstGeom prst="roundRect">
            <a:avLst>
              <a:gd name="adj" fmla="val 9756"/>
            </a:avLst>
          </a:prstGeom>
          <a:solidFill>
            <a:srgbClr val="0D2B45"/>
          </a:solidFill>
          <a:ln/>
        </p:spPr>
      </p:sp>
      <p:sp>
        <p:nvSpPr>
          <p:cNvPr id="22" name="Shape 18"/>
          <p:cNvSpPr/>
          <p:nvPr/>
        </p:nvSpPr>
        <p:spPr>
          <a:xfrm>
            <a:off x="6373368" y="5961888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3" name="Text 19"/>
          <p:cNvSpPr/>
          <p:nvPr/>
        </p:nvSpPr>
        <p:spPr>
          <a:xfrm>
            <a:off x="6766560" y="581558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Insight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766560" y="6163056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 leads with 75% hospitals above target (rating 3). Veterans Health Admin scores highest avg rating by ownership.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Design &amp; UX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509760" y="91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6 Dashboard Pages — Built &amp; Designed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481328"/>
            <a:ext cx="3657600" cy="2103120"/>
          </a:xfrm>
          <a:prstGeom prst="rect">
            <a:avLst/>
          </a:prstGeom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320040" y="3602736"/>
            <a:ext cx="3657600" cy="292608"/>
          </a:xfrm>
          <a:prstGeom prst="roundRect">
            <a:avLst>
              <a:gd name="adj" fmla="val 18750"/>
            </a:avLst>
          </a:prstGeom>
          <a:solidFill>
            <a:srgbClr val="0A2342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36027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Dashboard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481328"/>
            <a:ext cx="3657600" cy="2103120"/>
          </a:xfrm>
          <a:prstGeom prst="rect">
            <a:avLst/>
          </a:prstGeom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10" name="Shape 6"/>
          <p:cNvSpPr/>
          <p:nvPr/>
        </p:nvSpPr>
        <p:spPr>
          <a:xfrm>
            <a:off x="4251960" y="3602736"/>
            <a:ext cx="3657600" cy="292608"/>
          </a:xfrm>
          <a:prstGeom prst="roundRect">
            <a:avLst>
              <a:gd name="adj" fmla="val 18750"/>
            </a:avLst>
          </a:prstGeom>
          <a:solidFill>
            <a:srgbClr val="0A2342"/>
          </a:solidFill>
          <a:ln/>
        </p:spPr>
      </p:sp>
      <p:sp>
        <p:nvSpPr>
          <p:cNvPr id="11" name="Text 7"/>
          <p:cNvSpPr/>
          <p:nvPr/>
        </p:nvSpPr>
        <p:spPr>
          <a:xfrm>
            <a:off x="4251960" y="36027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Analysis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0" y="1481328"/>
            <a:ext cx="3657600" cy="2103120"/>
          </a:xfrm>
          <a:prstGeom prst="rect">
            <a:avLst/>
          </a:prstGeom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13" name="Shape 8"/>
          <p:cNvSpPr/>
          <p:nvPr/>
        </p:nvSpPr>
        <p:spPr>
          <a:xfrm>
            <a:off x="8183880" y="3602736"/>
            <a:ext cx="3657600" cy="292608"/>
          </a:xfrm>
          <a:prstGeom prst="roundRect">
            <a:avLst>
              <a:gd name="adj" fmla="val 18750"/>
            </a:avLst>
          </a:prstGeom>
          <a:solidFill>
            <a:srgbClr val="0A2342"/>
          </a:solidFill>
          <a:ln/>
        </p:spPr>
      </p:sp>
      <p:sp>
        <p:nvSpPr>
          <p:cNvPr id="14" name="Text 9"/>
          <p:cNvSpPr/>
          <p:nvPr/>
        </p:nvSpPr>
        <p:spPr>
          <a:xfrm>
            <a:off x="8183880" y="36027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Analysis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3977640"/>
            <a:ext cx="3657600" cy="2103120"/>
          </a:xfrm>
          <a:prstGeom prst="rect">
            <a:avLst/>
          </a:prstGeom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16" name="Shape 10"/>
          <p:cNvSpPr/>
          <p:nvPr/>
        </p:nvSpPr>
        <p:spPr>
          <a:xfrm>
            <a:off x="320040" y="6099048"/>
            <a:ext cx="3657600" cy="292608"/>
          </a:xfrm>
          <a:prstGeom prst="roundRect">
            <a:avLst>
              <a:gd name="adj" fmla="val 18750"/>
            </a:avLst>
          </a:prstGeom>
          <a:solidFill>
            <a:srgbClr val="0D7680"/>
          </a:solidFill>
          <a:ln/>
        </p:spPr>
      </p:sp>
      <p:sp>
        <p:nvSpPr>
          <p:cNvPr id="17" name="Text 11"/>
          <p:cNvSpPr/>
          <p:nvPr/>
        </p:nvSpPr>
        <p:spPr>
          <a:xfrm>
            <a:off x="320040" y="6099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Details</a:t>
            </a:r>
            <a:endParaRPr lang="en-US" sz="11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1960" y="3977640"/>
            <a:ext cx="3657600" cy="2103120"/>
          </a:xfrm>
          <a:prstGeom prst="rect">
            <a:avLst/>
          </a:prstGeom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19" name="Shape 12"/>
          <p:cNvSpPr/>
          <p:nvPr/>
        </p:nvSpPr>
        <p:spPr>
          <a:xfrm>
            <a:off x="4251960" y="6099048"/>
            <a:ext cx="3657600" cy="292608"/>
          </a:xfrm>
          <a:prstGeom prst="roundRect">
            <a:avLst>
              <a:gd name="adj" fmla="val 18750"/>
            </a:avLst>
          </a:prstGeom>
          <a:solidFill>
            <a:srgbClr val="0D7680"/>
          </a:solidFill>
          <a:ln/>
        </p:spPr>
      </p:sp>
      <p:sp>
        <p:nvSpPr>
          <p:cNvPr id="20" name="Text 13"/>
          <p:cNvSpPr/>
          <p:nvPr/>
        </p:nvSpPr>
        <p:spPr>
          <a:xfrm>
            <a:off x="4251960" y="6099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1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3880" y="3977640"/>
            <a:ext cx="3657600" cy="2103120"/>
          </a:xfrm>
          <a:prstGeom prst="rect">
            <a:avLst/>
          </a:prstGeom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22" name="Shape 14"/>
          <p:cNvSpPr/>
          <p:nvPr/>
        </p:nvSpPr>
        <p:spPr>
          <a:xfrm>
            <a:off x="8183880" y="6099048"/>
            <a:ext cx="3657600" cy="292608"/>
          </a:xfrm>
          <a:prstGeom prst="roundRect">
            <a:avLst>
              <a:gd name="adj" fmla="val 18750"/>
            </a:avLst>
          </a:prstGeom>
          <a:solidFill>
            <a:srgbClr val="0D7680"/>
          </a:solidFill>
          <a:ln/>
        </p:spPr>
      </p:sp>
      <p:sp>
        <p:nvSpPr>
          <p:cNvPr id="23" name="Text 15"/>
          <p:cNvSpPr/>
          <p:nvPr/>
        </p:nvSpPr>
        <p:spPr>
          <a:xfrm>
            <a:off x="8183880" y="6099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Insights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&amp; Insights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3657600" cy="2423160"/>
          </a:xfrm>
          <a:prstGeom prst="roundRect">
            <a:avLst>
              <a:gd name="adj" fmla="val 5283"/>
            </a:avLst>
          </a:prstGeom>
          <a:solidFill>
            <a:srgbClr val="0D2B4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35331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🏆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84632" y="1965960"/>
            <a:ext cx="3328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Performing States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Utah (4.3), South Dakota (4.2) &amp; Colorado (4.0) lead avg hospital ratings — Western states dominate quality.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51960" y="1188720"/>
            <a:ext cx="3657600" cy="2423160"/>
          </a:xfrm>
          <a:prstGeom prst="roundRect">
            <a:avLst>
              <a:gd name="adj" fmla="val 5283"/>
            </a:avLst>
          </a:prstGeom>
          <a:solidFill>
            <a:srgbClr val="0D2B4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51960" y="135331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🚨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416552" y="1965960"/>
            <a:ext cx="3328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Readmissions Gap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89120" y="237744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'Worse' domain at 8.4%. Texas alone has 264 missing ratings — biggest data quality gap by state.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83880" y="1188720"/>
            <a:ext cx="3657600" cy="2423160"/>
          </a:xfrm>
          <a:prstGeom prst="roundRect">
            <a:avLst>
              <a:gd name="adj" fmla="val 5283"/>
            </a:avLst>
          </a:prstGeom>
          <a:solidFill>
            <a:srgbClr val="0D2B4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83880" y="135331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348472" y="1965960"/>
            <a:ext cx="3328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is Strongest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21040" y="237744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17.1% of safety measures outperform national benchmarks — best 'Better' rate across all 3 measurable domains.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3840480"/>
            <a:ext cx="3657600" cy="2423160"/>
          </a:xfrm>
          <a:prstGeom prst="roundRect">
            <a:avLst>
              <a:gd name="adj" fmla="val 5283"/>
            </a:avLst>
          </a:prstGeom>
          <a:solidFill>
            <a:srgbClr val="0D2B4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" y="400507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🏥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84632" y="4617720"/>
            <a:ext cx="3328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9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 Hospitals Lead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502920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Veterans Health Administration scores highest avg rating by ownership type at ~3.6 — above national 3.14 avg.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51960" y="3840480"/>
            <a:ext cx="3657600" cy="2423160"/>
          </a:xfrm>
          <a:prstGeom prst="roundRect">
            <a:avLst>
              <a:gd name="adj" fmla="val 5283"/>
            </a:avLst>
          </a:prstGeom>
          <a:solidFill>
            <a:srgbClr val="0D2B4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251960" y="400507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🗺️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416552" y="4617720"/>
            <a:ext cx="3328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6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 Gaps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389120" y="502920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 leads with 75% of hospitals above target (rating 3). VI (1.0), PR (1.86) &amp; GU (2.0) score lowest nationally.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83880" y="3840480"/>
            <a:ext cx="3657600" cy="2423160"/>
          </a:xfrm>
          <a:prstGeom prst="roundRect">
            <a:avLst>
              <a:gd name="adj" fmla="val 5283"/>
            </a:avLst>
          </a:prstGeom>
          <a:solidFill>
            <a:srgbClr val="0D2B4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183880" y="400507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💡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348472" y="4617720"/>
            <a:ext cx="3328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Potential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21040" y="502920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 duplicate entries found &amp; resolved. 3K missing ratings. Data validation page ensures clean decision-making.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Contributions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148840" cy="548640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2148840" cy="1143000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143000"/>
            <a:ext cx="2148840" cy="1143000"/>
          </a:xfrm>
          <a:prstGeom prst="roundRect">
            <a:avLst>
              <a:gd name="adj" fmla="val 9600"/>
            </a:avLst>
          </a:prstGeom>
          <a:solidFill>
            <a:srgbClr val="0D768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783080"/>
            <a:ext cx="2148840" cy="502920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207008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Akash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47472" y="1645920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" y="2395728"/>
            <a:ext cx="1444752" cy="320040"/>
          </a:xfrm>
          <a:prstGeom prst="roundRect">
            <a:avLst>
              <a:gd name="adj" fmla="val 17143"/>
            </a:avLst>
          </a:prstGeom>
          <a:solidFill>
            <a:srgbClr val="0D7680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2395728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7680"/>
                </a:solidFill>
              </a:rPr>
              <a:t>Phase 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2816352"/>
            <a:ext cx="868680" cy="868680"/>
          </a:xfrm>
          <a:prstGeom prst="ellipse">
            <a:avLst/>
          </a:prstGeom>
          <a:solidFill>
            <a:srgbClr val="0D7680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81635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76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30h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20624" y="3858768"/>
            <a:ext cx="155448" cy="155448"/>
          </a:xfrm>
          <a:prstGeom prst="ellipse">
            <a:avLst/>
          </a:prstGeom>
          <a:solidFill>
            <a:srgbClr val="0D768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803904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ZIP/ID data type fixes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0624" y="4407408"/>
            <a:ext cx="155448" cy="155448"/>
          </a:xfrm>
          <a:prstGeom prst="ellipse">
            <a:avLst/>
          </a:prstGeom>
          <a:solidFill>
            <a:srgbClr val="0D768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352544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handling (0 errors)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20624" y="4956048"/>
            <a:ext cx="155448" cy="155448"/>
          </a:xfrm>
          <a:prstGeom prst="ellipse">
            <a:avLst/>
          </a:prstGeom>
          <a:solidFill>
            <a:srgbClr val="0D7680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901184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flags &amp; footnote hiding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0624" y="5504688"/>
            <a:ext cx="155448" cy="155448"/>
          </a:xfrm>
          <a:prstGeom prst="ellipse">
            <a:avLst/>
          </a:prstGeom>
          <a:solidFill>
            <a:srgbClr val="0D768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449824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columns strictly typed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96896" y="1143000"/>
            <a:ext cx="2148840" cy="548640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96896" y="1143000"/>
            <a:ext cx="2148840" cy="1143000"/>
          </a:xfrm>
          <a:prstGeom prst="rect">
            <a:avLst/>
          </a:prstGeom>
          <a:solidFill>
            <a:srgbClr val="1E6B8A"/>
          </a:solidFill>
          <a:ln/>
        </p:spPr>
      </p:sp>
      <p:sp>
        <p:nvSpPr>
          <p:cNvPr id="24" name="Shape 22"/>
          <p:cNvSpPr/>
          <p:nvPr/>
        </p:nvSpPr>
        <p:spPr>
          <a:xfrm>
            <a:off x="2596896" y="1143000"/>
            <a:ext cx="2148840" cy="1143000"/>
          </a:xfrm>
          <a:prstGeom prst="roundRect">
            <a:avLst>
              <a:gd name="adj" fmla="val 9600"/>
            </a:avLst>
          </a:prstGeom>
          <a:solidFill>
            <a:srgbClr val="1E6B8A"/>
          </a:solidFill>
          <a:ln/>
        </p:spPr>
      </p:sp>
      <p:sp>
        <p:nvSpPr>
          <p:cNvPr id="25" name="Shape 23"/>
          <p:cNvSpPr/>
          <p:nvPr/>
        </p:nvSpPr>
        <p:spPr>
          <a:xfrm>
            <a:off x="2596896" y="1783080"/>
            <a:ext cx="2148840" cy="502920"/>
          </a:xfrm>
          <a:prstGeom prst="rect">
            <a:avLst/>
          </a:prstGeom>
          <a:solidFill>
            <a:srgbClr val="1E6B8A"/>
          </a:solidFill>
          <a:ln/>
        </p:spPr>
      </p:sp>
      <p:sp>
        <p:nvSpPr>
          <p:cNvPr id="26" name="Text 24"/>
          <p:cNvSpPr/>
          <p:nvPr/>
        </p:nvSpPr>
        <p:spPr>
          <a:xfrm>
            <a:off x="2688336" y="1207008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Arunima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670048" y="1645920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&amp; Visuals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944368" y="2395728"/>
            <a:ext cx="1444752" cy="320040"/>
          </a:xfrm>
          <a:prstGeom prst="roundRect">
            <a:avLst>
              <a:gd name="adj" fmla="val 17143"/>
            </a:avLst>
          </a:prstGeom>
          <a:solidFill>
            <a:srgbClr val="1E6B8A">
              <a:alpha val="8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2944368" y="2395728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6B8A"/>
                </a:solidFill>
              </a:rPr>
              <a:t>Phase 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36976" y="2816352"/>
            <a:ext cx="868680" cy="868680"/>
          </a:xfrm>
          <a:prstGeom prst="ellipse">
            <a:avLst/>
          </a:prstGeom>
          <a:solidFill>
            <a:srgbClr val="1E6B8A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236976" y="281635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6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30h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2743200" y="3858768"/>
            <a:ext cx="155448" cy="155448"/>
          </a:xfrm>
          <a:prstGeom prst="ellipse">
            <a:avLst/>
          </a:prstGeom>
          <a:solidFill>
            <a:srgbClr val="1E6B8A"/>
          </a:solidFill>
          <a:ln/>
        </p:spPr>
      </p:sp>
      <p:sp>
        <p:nvSpPr>
          <p:cNvPr id="33" name="Text 31"/>
          <p:cNvSpPr/>
          <p:nvPr/>
        </p:nvSpPr>
        <p:spPr>
          <a:xfrm>
            <a:off x="2962656" y="3803904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Dim tables (Star Schema)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0" y="4407408"/>
            <a:ext cx="155448" cy="155448"/>
          </a:xfrm>
          <a:prstGeom prst="ellipse">
            <a:avLst/>
          </a:prstGeom>
          <a:solidFill>
            <a:srgbClr val="1E6B8A"/>
          </a:solidFill>
          <a:ln/>
        </p:spPr>
      </p:sp>
      <p:sp>
        <p:nvSpPr>
          <p:cNvPr id="35" name="Text 33"/>
          <p:cNvSpPr/>
          <p:nvPr/>
        </p:nvSpPr>
        <p:spPr>
          <a:xfrm>
            <a:off x="2962656" y="4352544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DAX domain measures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0" y="4956048"/>
            <a:ext cx="155448" cy="155448"/>
          </a:xfrm>
          <a:prstGeom prst="ellipse">
            <a:avLst/>
          </a:prstGeom>
          <a:solidFill>
            <a:srgbClr val="1E6B8A"/>
          </a:solidFill>
          <a:ln/>
        </p:spPr>
      </p:sp>
      <p:sp>
        <p:nvSpPr>
          <p:cNvPr id="37" name="Text 35"/>
          <p:cNvSpPr/>
          <p:nvPr/>
        </p:nvSpPr>
        <p:spPr>
          <a:xfrm>
            <a:off x="2962656" y="4901184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&amp; Geo dashboards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743200" y="5504688"/>
            <a:ext cx="155448" cy="155448"/>
          </a:xfrm>
          <a:prstGeom prst="ellipse">
            <a:avLst/>
          </a:prstGeom>
          <a:solidFill>
            <a:srgbClr val="1E6B8A"/>
          </a:solidFill>
          <a:ln/>
        </p:spPr>
      </p:sp>
      <p:sp>
        <p:nvSpPr>
          <p:cNvPr id="39" name="Text 37"/>
          <p:cNvSpPr/>
          <p:nvPr/>
        </p:nvSpPr>
        <p:spPr>
          <a:xfrm>
            <a:off x="2962656" y="5449824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Many-to-one relationships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919472" y="1143000"/>
            <a:ext cx="2148840" cy="548640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919472" y="1143000"/>
            <a:ext cx="2148840" cy="1143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2" name="Shape 40"/>
          <p:cNvSpPr/>
          <p:nvPr/>
        </p:nvSpPr>
        <p:spPr>
          <a:xfrm>
            <a:off x="4919472" y="1143000"/>
            <a:ext cx="2148840" cy="1143000"/>
          </a:xfrm>
          <a:prstGeom prst="roundRect">
            <a:avLst>
              <a:gd name="adj" fmla="val 9600"/>
            </a:avLst>
          </a:prstGeom>
          <a:solidFill>
            <a:srgbClr val="10B981"/>
          </a:solidFill>
          <a:ln/>
        </p:spPr>
      </p:sp>
      <p:sp>
        <p:nvSpPr>
          <p:cNvPr id="43" name="Shape 41"/>
          <p:cNvSpPr/>
          <p:nvPr/>
        </p:nvSpPr>
        <p:spPr>
          <a:xfrm>
            <a:off x="4919472" y="1783080"/>
            <a:ext cx="214884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4" name="Text 42"/>
          <p:cNvSpPr/>
          <p:nvPr/>
        </p:nvSpPr>
        <p:spPr>
          <a:xfrm>
            <a:off x="5010912" y="1207008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Manisha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4992624" y="1645920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QA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266944" y="2395728"/>
            <a:ext cx="1444752" cy="320040"/>
          </a:xfrm>
          <a:prstGeom prst="roundRect">
            <a:avLst>
              <a:gd name="adj" fmla="val 17143"/>
            </a:avLst>
          </a:prstGeom>
          <a:solidFill>
            <a:srgbClr val="10B981">
              <a:alpha val="8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5266944" y="2395728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</a:rPr>
              <a:t>Phase 3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559552" y="2816352"/>
            <a:ext cx="868680" cy="868680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5559552" y="281635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30h</a:t>
            </a:r>
            <a:endParaRPr lang="en-US" sz="2000" dirty="0"/>
          </a:p>
        </p:txBody>
      </p:sp>
      <p:sp>
        <p:nvSpPr>
          <p:cNvPr id="50" name="Shape 48"/>
          <p:cNvSpPr/>
          <p:nvPr/>
        </p:nvSpPr>
        <p:spPr>
          <a:xfrm>
            <a:off x="5065776" y="3858768"/>
            <a:ext cx="155448" cy="1554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1" name="Text 49"/>
          <p:cNvSpPr/>
          <p:nvPr/>
        </p:nvSpPr>
        <p:spPr>
          <a:xfrm>
            <a:off x="5285232" y="3803904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Details page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065776" y="4407408"/>
            <a:ext cx="155448" cy="1554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3" name="Text 51"/>
          <p:cNvSpPr/>
          <p:nvPr/>
        </p:nvSpPr>
        <p:spPr>
          <a:xfrm>
            <a:off x="5285232" y="4352544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target parameter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065776" y="4956048"/>
            <a:ext cx="155448" cy="1554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5" name="Text 53"/>
          <p:cNvSpPr/>
          <p:nvPr/>
        </p:nvSpPr>
        <p:spPr>
          <a:xfrm>
            <a:off x="5285232" y="4901184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 page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065776" y="5504688"/>
            <a:ext cx="155448" cy="1554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7" name="Text 55"/>
          <p:cNvSpPr/>
          <p:nvPr/>
        </p:nvSpPr>
        <p:spPr>
          <a:xfrm>
            <a:off x="5285232" y="5449824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 duplicates identified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242048" y="1143000"/>
            <a:ext cx="2148840" cy="548640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7242048" y="1143000"/>
            <a:ext cx="2148840" cy="1143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0" name="Shape 58"/>
          <p:cNvSpPr/>
          <p:nvPr/>
        </p:nvSpPr>
        <p:spPr>
          <a:xfrm>
            <a:off x="7242048" y="1143000"/>
            <a:ext cx="2148840" cy="1143000"/>
          </a:xfrm>
          <a:prstGeom prst="roundRect">
            <a:avLst>
              <a:gd name="adj" fmla="val 9600"/>
            </a:avLst>
          </a:prstGeom>
          <a:solidFill>
            <a:srgbClr val="7C3AED"/>
          </a:solidFill>
          <a:ln/>
        </p:spPr>
      </p:sp>
      <p:sp>
        <p:nvSpPr>
          <p:cNvPr id="61" name="Shape 59"/>
          <p:cNvSpPr/>
          <p:nvPr/>
        </p:nvSpPr>
        <p:spPr>
          <a:xfrm>
            <a:off x="7242048" y="1783080"/>
            <a:ext cx="214884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2" name="Text 60"/>
          <p:cNvSpPr/>
          <p:nvPr/>
        </p:nvSpPr>
        <p:spPr>
          <a:xfrm>
            <a:off x="7333488" y="1207008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Anuj</a:t>
            </a:r>
            <a:endParaRPr lang="en-US" sz="1250" dirty="0"/>
          </a:p>
        </p:txBody>
      </p:sp>
      <p:sp>
        <p:nvSpPr>
          <p:cNvPr id="63" name="Text 61"/>
          <p:cNvSpPr/>
          <p:nvPr/>
        </p:nvSpPr>
        <p:spPr>
          <a:xfrm>
            <a:off x="7315200" y="1645920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&amp; Scenarios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7589520" y="2395728"/>
            <a:ext cx="1444752" cy="320040"/>
          </a:xfrm>
          <a:prstGeom prst="roundRect">
            <a:avLst>
              <a:gd name="adj" fmla="val 17143"/>
            </a:avLst>
          </a:prstGeom>
          <a:solidFill>
            <a:srgbClr val="7C3AED">
              <a:alpha val="80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7589520" y="2395728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</a:rPr>
              <a:t>Phase 4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7882128" y="2816352"/>
            <a:ext cx="868680" cy="868680"/>
          </a:xfrm>
          <a:prstGeom prst="ellipse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7882128" y="281635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30h</a:t>
            </a:r>
            <a:endParaRPr lang="en-US" sz="2000" dirty="0"/>
          </a:p>
        </p:txBody>
      </p:sp>
      <p:sp>
        <p:nvSpPr>
          <p:cNvPr id="68" name="Shape 66"/>
          <p:cNvSpPr/>
          <p:nvPr/>
        </p:nvSpPr>
        <p:spPr>
          <a:xfrm>
            <a:off x="7388352" y="3858768"/>
            <a:ext cx="155448" cy="1554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9" name="Text 67"/>
          <p:cNvSpPr/>
          <p:nvPr/>
        </p:nvSpPr>
        <p:spPr>
          <a:xfrm>
            <a:off x="7607808" y="3803904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Improvement slider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7388352" y="4407408"/>
            <a:ext cx="155448" cy="1554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1" name="Text 69"/>
          <p:cNvSpPr/>
          <p:nvPr/>
        </p:nvSpPr>
        <p:spPr>
          <a:xfrm>
            <a:off x="7607808" y="4352544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KPI measures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7388352" y="4956048"/>
            <a:ext cx="155448" cy="1554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3" name="Text 71"/>
          <p:cNvSpPr/>
          <p:nvPr/>
        </p:nvSpPr>
        <p:spPr>
          <a:xfrm>
            <a:off x="7607808" y="4901184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Insights page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7388352" y="5504688"/>
            <a:ext cx="155448" cy="1554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5" name="Text 73"/>
          <p:cNvSpPr/>
          <p:nvPr/>
        </p:nvSpPr>
        <p:spPr>
          <a:xfrm>
            <a:off x="7607808" y="5449824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Cross-filter interactivity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9564624" y="1143000"/>
            <a:ext cx="2148840" cy="548640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9564624" y="1143000"/>
            <a:ext cx="2148840" cy="1143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8" name="Shape 76"/>
          <p:cNvSpPr/>
          <p:nvPr/>
        </p:nvSpPr>
        <p:spPr>
          <a:xfrm>
            <a:off x="9564624" y="1143000"/>
            <a:ext cx="2148840" cy="1143000"/>
          </a:xfrm>
          <a:prstGeom prst="roundRect">
            <a:avLst>
              <a:gd name="adj" fmla="val 9600"/>
            </a:avLst>
          </a:prstGeom>
          <a:solidFill>
            <a:srgbClr val="F59E0B"/>
          </a:solidFill>
          <a:ln/>
        </p:spPr>
      </p:sp>
      <p:sp>
        <p:nvSpPr>
          <p:cNvPr id="79" name="Shape 77"/>
          <p:cNvSpPr/>
          <p:nvPr/>
        </p:nvSpPr>
        <p:spPr>
          <a:xfrm>
            <a:off x="9564624" y="1783080"/>
            <a:ext cx="214884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0" name="Text 78"/>
          <p:cNvSpPr/>
          <p:nvPr/>
        </p:nvSpPr>
        <p:spPr>
          <a:xfrm>
            <a:off x="9656064" y="1207008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Abhishek</a:t>
            </a:r>
            <a:endParaRPr lang="en-US" sz="1250" dirty="0"/>
          </a:p>
        </p:txBody>
      </p:sp>
      <p:sp>
        <p:nvSpPr>
          <p:cNvPr id="81" name="Text 79"/>
          <p:cNvSpPr/>
          <p:nvPr/>
        </p:nvSpPr>
        <p:spPr>
          <a:xfrm>
            <a:off x="9637776" y="1645920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 &amp; UX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9912096" y="2395728"/>
            <a:ext cx="1444752" cy="320040"/>
          </a:xfrm>
          <a:prstGeom prst="roundRect">
            <a:avLst>
              <a:gd name="adj" fmla="val 17143"/>
            </a:avLst>
          </a:prstGeom>
          <a:solidFill>
            <a:srgbClr val="F59E0B">
              <a:alpha val="80000"/>
            </a:srgbClr>
          </a:solidFill>
          <a:ln/>
        </p:spPr>
      </p:sp>
      <p:sp>
        <p:nvSpPr>
          <p:cNvPr id="83" name="Text 81"/>
          <p:cNvSpPr/>
          <p:nvPr/>
        </p:nvSpPr>
        <p:spPr>
          <a:xfrm>
            <a:off x="9912096" y="2395728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All Phases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10204704" y="2816352"/>
            <a:ext cx="868680" cy="868680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85" name="Text 83"/>
          <p:cNvSpPr/>
          <p:nvPr/>
        </p:nvSpPr>
        <p:spPr>
          <a:xfrm>
            <a:off x="10204704" y="281635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30h</a:t>
            </a:r>
            <a:endParaRPr lang="en-US" sz="2000" dirty="0"/>
          </a:p>
        </p:txBody>
      </p:sp>
      <p:sp>
        <p:nvSpPr>
          <p:cNvPr id="86" name="Shape 84"/>
          <p:cNvSpPr/>
          <p:nvPr/>
        </p:nvSpPr>
        <p:spPr>
          <a:xfrm>
            <a:off x="9710928" y="3858768"/>
            <a:ext cx="155448" cy="1554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7" name="Text 85"/>
          <p:cNvSpPr/>
          <p:nvPr/>
        </p:nvSpPr>
        <p:spPr>
          <a:xfrm>
            <a:off x="9930384" y="3803904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page designs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9710928" y="4407408"/>
            <a:ext cx="155448" cy="1554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9" name="Text 87"/>
          <p:cNvSpPr/>
          <p:nvPr/>
        </p:nvSpPr>
        <p:spPr>
          <a:xfrm>
            <a:off x="9930384" y="4352544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 formatting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9710928" y="4956048"/>
            <a:ext cx="155448" cy="1554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1" name="Text 89"/>
          <p:cNvSpPr/>
          <p:nvPr/>
        </p:nvSpPr>
        <p:spPr>
          <a:xfrm>
            <a:off x="9930384" y="4901184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type selection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9710928" y="5504688"/>
            <a:ext cx="155448" cy="1554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3" name="Text 91"/>
          <p:cNvSpPr/>
          <p:nvPr/>
        </p:nvSpPr>
        <p:spPr>
          <a:xfrm>
            <a:off x="9930384" y="5449824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consistency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Learnings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115214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435608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0D768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43560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Cleaning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0" y="123444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'Not Available' mixed with numbers in 20 columns caused errors during type conversion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828800" y="164592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Used Replace Errors → null to preserve all records instead of losing rows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12280" y="1307592"/>
            <a:ext cx="27432" cy="640080"/>
          </a:xfrm>
          <a:prstGeom prst="rect">
            <a:avLst/>
          </a:prstGeom>
          <a:solidFill>
            <a:srgbClr val="E2EAF0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0" y="12344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49440" y="15270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Replace Errors → null to preserve all records instead of losing rows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240280"/>
            <a:ext cx="115214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532888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1E6B8A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5328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Modelling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0" y="233172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Data source path broke when PBIX file was moved between team members' machines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828800" y="274320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Standardised relative file path + documented setup steps for the team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2404872"/>
            <a:ext cx="27432" cy="640080"/>
          </a:xfrm>
          <a:prstGeom prst="rect">
            <a:avLst/>
          </a:prstGeom>
          <a:solidFill>
            <a:srgbClr val="E2EAF0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23317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49440" y="26243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relative file path + documented setup steps for the team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337560"/>
            <a:ext cx="115214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3630168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1E6B8A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6301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Modeling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828800" y="342900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Filled Map visual not available in the current Power BI version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828800" y="384048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Switched to Bing Map visual which still gave state-level geographic insight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12280" y="3502152"/>
            <a:ext cx="27432" cy="640080"/>
          </a:xfrm>
          <a:prstGeom prst="rect">
            <a:avLst/>
          </a:prstGeom>
          <a:solidFill>
            <a:srgbClr val="E2EAF0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0" y="34290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49440" y="3721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to Bing Map visual which still gave state-level geographic insight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4434840"/>
            <a:ext cx="115214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11480" y="4727448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47274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What If Analysis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828800" y="452628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Creating a dynamic What-If target parameter that updates all visuals in real time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828800" y="493776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Used GENERATESERIES DAX + What-If Parameter feature in Power BI for live updates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12280" y="4599432"/>
            <a:ext cx="27432" cy="640080"/>
          </a:xfrm>
          <a:prstGeom prst="rect">
            <a:avLst/>
          </a:prstGeom>
          <a:solidFill>
            <a:srgbClr val="E2EAF0"/>
          </a:solidFill>
          <a:ln/>
        </p:spPr>
      </p:sp>
      <p:sp>
        <p:nvSpPr>
          <p:cNvPr id="34" name="Text 32"/>
          <p:cNvSpPr/>
          <p:nvPr/>
        </p:nvSpPr>
        <p:spPr>
          <a:xfrm>
            <a:off x="6949440" y="45262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49440" y="48188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GENERATESERIES DAX + What-If Parameter feature in Power BI for live updates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0040" y="5532120"/>
            <a:ext cx="115214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11480" y="5824728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8" name="Text 36"/>
          <p:cNvSpPr/>
          <p:nvPr/>
        </p:nvSpPr>
        <p:spPr>
          <a:xfrm>
            <a:off x="411480" y="58247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What If Analysis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828800" y="562356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Projecting future performance while keeping current actuals accurate side by side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828800" y="60350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Separated projected measures (DAX) from actuals using measure branching pattern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812280" y="5696712"/>
            <a:ext cx="27432" cy="640080"/>
          </a:xfrm>
          <a:prstGeom prst="rect">
            <a:avLst/>
          </a:prstGeom>
          <a:solidFill>
            <a:srgbClr val="E2EAF0"/>
          </a:solidFill>
          <a:ln/>
        </p:spPr>
      </p:sp>
      <p:sp>
        <p:nvSpPr>
          <p:cNvPr id="42" name="Text 40"/>
          <p:cNvSpPr/>
          <p:nvPr/>
        </p:nvSpPr>
        <p:spPr>
          <a:xfrm>
            <a:off x="6949440" y="56235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949440" y="59161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Separated projected measures (DAX) from actuals using measure branching pattern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0"/>
            <a:ext cx="8046720" cy="6858000"/>
          </a:xfrm>
          <a:prstGeom prst="rect">
            <a:avLst/>
          </a:prstGeom>
          <a:solidFill>
            <a:srgbClr val="0D7680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0"/>
            <a:ext cx="6675120" cy="6858000"/>
          </a:xfrm>
          <a:prstGeom prst="rect">
            <a:avLst/>
          </a:prstGeom>
          <a:solidFill>
            <a:srgbClr val="1A9BA6">
              <a:alpha val="60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8961120" y="182880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3716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200" dirty="0"/>
          </a:p>
        </p:txBody>
      </p:sp>
      <p:sp>
        <p:nvSpPr>
          <p:cNvPr id="6" name="Text 3"/>
          <p:cNvSpPr/>
          <p:nvPr/>
        </p:nvSpPr>
        <p:spPr>
          <a:xfrm>
            <a:off x="731520" y="2670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9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General Information Dashboard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31520" y="3337560"/>
            <a:ext cx="5029200" cy="36576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3520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31520" y="42062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Akash ·  Arunima  ·  Manisha  ·  Anuj  ·  Abhishek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4709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HeroVired Data Analytics  —  Capstone Project  |  June 2026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" y="5486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Preview</a:t>
            </a:r>
            <a:endParaRPr lang="en-US" sz="11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852160"/>
            <a:ext cx="2011680" cy="777240"/>
          </a:xfrm>
          <a:prstGeom prst="rect">
            <a:avLst/>
          </a:prstGeom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520" y="5852160"/>
            <a:ext cx="2011680" cy="777240"/>
          </a:xfrm>
          <a:prstGeom prst="rect">
            <a:avLst/>
          </a:prstGeom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0" y="5852160"/>
            <a:ext cx="2011680" cy="777240"/>
          </a:xfrm>
          <a:prstGeom prst="rect">
            <a:avLst/>
          </a:prstGeom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1567</Words>
  <Application>Microsoft Office PowerPoint</Application>
  <PresentationFormat>Widescreen</PresentationFormat>
  <Paragraphs>287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General Information Dashboard</dc:title>
  <dc:subject>PptxGenJS Presentation</dc:subject>
  <dc:creator>PptxGenJS</dc:creator>
  <cp:lastModifiedBy>Akash Jadhav</cp:lastModifiedBy>
  <cp:revision>10</cp:revision>
  <dcterms:created xsi:type="dcterms:W3CDTF">2026-06-27T05:56:29Z</dcterms:created>
  <dcterms:modified xsi:type="dcterms:W3CDTF">2026-06-27T14:13:55Z</dcterms:modified>
</cp:coreProperties>
</file>